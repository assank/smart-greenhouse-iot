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ce6a000c54bae" /><Relationship Type="http://schemas.openxmlformats.org/officeDocument/2006/relationships/extended-properties" Target="/docProps/app.xml" Id="Rad2b05ca67d843bb" /><Relationship Type="http://schemas.openxmlformats.org/officeDocument/2006/relationships/officeDocument" Target="/ppt/presentation.xml" Id="Ree8ed82d1c9840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7ad6cdf774a12"/>
  </p:sldMasterIdLst>
  <p:notesMasterIdLst>
    <p:notesMasterId xmlns:r="http://schemas.openxmlformats.org/officeDocument/2006/relationships" r:id="Rd01a8ba57ecc4009"/>
  </p:notesMasterIdLst>
  <p:sldIdLst>
    <p:sldId xmlns:r="http://schemas.openxmlformats.org/officeDocument/2006/relationships" id="256" r:id="Rc6377e2ef1744ec1"/>
    <p:sldId xmlns:r="http://schemas.openxmlformats.org/officeDocument/2006/relationships" id="257" r:id="Rddb94f2757e44a26"/>
    <p:sldId xmlns:r="http://schemas.openxmlformats.org/officeDocument/2006/relationships" id="258" r:id="Rc9a461790a4f4d99"/>
    <p:sldId xmlns:r="http://schemas.openxmlformats.org/officeDocument/2006/relationships" id="259" r:id="Rfff59bf015ef4a73"/>
    <p:sldId xmlns:r="http://schemas.openxmlformats.org/officeDocument/2006/relationships" id="260" r:id="Rece3fe76f69e4b80"/>
    <p:sldId xmlns:r="http://schemas.openxmlformats.org/officeDocument/2006/relationships" id="261" r:id="R457b7e82ed894a46"/>
    <p:sldId xmlns:r="http://schemas.openxmlformats.org/officeDocument/2006/relationships" id="262" r:id="R981d103e99be4575"/>
    <p:sldId xmlns:r="http://schemas.openxmlformats.org/officeDocument/2006/relationships" id="263" r:id="R9974edc1dc1f49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1fce31005d42d2" /><Relationship Type="http://schemas.openxmlformats.org/officeDocument/2006/relationships/slideMaster" Target="/ppt/slideMasters/slideMaster1.xml" Id="R29d7ad6cdf774a12" /><Relationship Type="http://schemas.openxmlformats.org/officeDocument/2006/relationships/notesMaster" Target="/ppt/notesMasters/notesMaster1.xml" Id="Rd01a8ba57ecc4009" /><Relationship Type="http://schemas.openxmlformats.org/officeDocument/2006/relationships/presProps" Target="/ppt/presProps.xml" Id="R0a387880c5b44fd9" /><Relationship Type="http://schemas.openxmlformats.org/officeDocument/2006/relationships/tableStyles" Target="/ppt/tableStyles.xml" Id="Rb59e13dd89c0450f" /><Relationship Type="http://schemas.openxmlformats.org/officeDocument/2006/relationships/slide" Target="/ppt/slides/slide1.xml" Id="Rc6377e2ef1744ec1" /><Relationship Type="http://schemas.openxmlformats.org/officeDocument/2006/relationships/slide" Target="/ppt/slides/slide2.xml" Id="Rddb94f2757e44a26" /><Relationship Type="http://schemas.openxmlformats.org/officeDocument/2006/relationships/slide" Target="/ppt/slides/slide3.xml" Id="Rc9a461790a4f4d99" /><Relationship Type="http://schemas.openxmlformats.org/officeDocument/2006/relationships/slide" Target="/ppt/slides/slide4.xml" Id="Rfff59bf015ef4a73" /><Relationship Type="http://schemas.openxmlformats.org/officeDocument/2006/relationships/slide" Target="/ppt/slides/slide5.xml" Id="Rece3fe76f69e4b80" /><Relationship Type="http://schemas.openxmlformats.org/officeDocument/2006/relationships/slide" Target="/ppt/slides/slide6.xml" Id="R457b7e82ed894a46" /><Relationship Type="http://schemas.openxmlformats.org/officeDocument/2006/relationships/slide" Target="/ppt/slides/slide7.xml" Id="R981d103e99be4575" /><Relationship Type="http://schemas.openxmlformats.org/officeDocument/2006/relationships/slide" Target="/ppt/slides/slide8.xml" Id="R9974edc1dc1f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fafa946f2d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3b37211b84469" /><Relationship Type="http://schemas.openxmlformats.org/officeDocument/2006/relationships/notesMaster" Target="/ppt/notesMasters/notesMaster1.xml" Id="Rc20434ffc05744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39f1207d014339" /><Relationship Type="http://schemas.openxmlformats.org/officeDocument/2006/relationships/notesMaster" Target="/ppt/notesMasters/notesMaster1.xml" Id="R940868fd40dc43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2e1bde44404721" /><Relationship Type="http://schemas.openxmlformats.org/officeDocument/2006/relationships/notesMaster" Target="/ppt/notesMasters/notesMaster1.xml" Id="Rd178fd608e3041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404ba8cd9d4493" /><Relationship Type="http://schemas.openxmlformats.org/officeDocument/2006/relationships/notesMaster" Target="/ppt/notesMasters/notesMaster1.xml" Id="R684eea7636274f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bae3f2920a4bc6" /><Relationship Type="http://schemas.openxmlformats.org/officeDocument/2006/relationships/notesMaster" Target="/ppt/notesMasters/notesMaster1.xml" Id="R778e6d9835ae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62eb9152bd4c88" /><Relationship Type="http://schemas.openxmlformats.org/officeDocument/2006/relationships/notesMaster" Target="/ppt/notesMasters/notesMaster1.xml" Id="Rd3576259c92c4d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b6fbe959934e6e" /><Relationship Type="http://schemas.openxmlformats.org/officeDocument/2006/relationships/notesMaster" Target="/ppt/notesMasters/notesMaster1.xml" Id="R01ae76c94fb445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66cfebb2d4464e" /><Relationship Type="http://schemas.openxmlformats.org/officeDocument/2006/relationships/notesMaster" Target="/ppt/notesMasters/notesMaster1.xml" Id="R3a8d825be65244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разработали учебный прототип умной теплицы без физических плат. Код выполняется на виртуальном ESP32 в Wokwi, а отдельная объёмная модель объясняет расположение датчиков и работу устройств. Изображение на обложке создано ImageGen и показывает концепт предполагаемой конструкции. Оно не является фотографией собранного устройства.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модели видно две грядки, бак, насос, вентилятор и лампы. Датчик температуры находится в воздухе, датчик почвы установлен в грядке, а ультразвуковой датчик смотрит на поверхность воды. Модель можно вращать и приближать. Это пространственная иллюстрация, а не расчёт роста растений. Изображение: собственный скриншот работающей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Датчики передают сигналы ESP32. Контроллер принимает решения локально и управляет реле. По Wi-Fi он отправляет JSON-показания через MQTT в браузерную модель. Браузер также отправляет команды выбора учебного сценария обратно на ESP32. Сетевые переподключения выполняются в отдельной задаче и не останавливают локальную логику управления.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Включение и выключение происходят по разным порогам. Это гистерезис. Например, вентилятор включается при 28,5 градуса, но выключается только после охлаждения до 26,5 градуса. Шкалы почвы и света относительные и требуют калибровки для физического устройства. Пороги взяты из задания и используются как учебные настройки.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этой проверке сценарий жары отправлен из модели через MQTT. ESP32 получил команду, установил учебное входное значение 32 градуса, принял решение включить вентилятор и вернул своё состояние. На модели показан источник Wokwi. В режиме «Читать датчики» данные берутся с компонентов симулятора, а в сценарном режиме используются заранее заданные тестовые входы. Изображение: собственный скриншот живого обмена с ESP32.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временной диаграмме показан проверенный сценарий постоянно сухой почвы. Насос работает 6 секунд, затем выключается на 12 секунд. После паузы контроллер снова оценивает влажность и запас воды. При низком уровне воды или некорректном сигнале уровня насос блокируется. Это ограничение одного цикла, а не гарантированное распознавание поломки аналогового датчика.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перечисленные сценарии проверены на запущенном ESP32 через MQTT. Таймер и гистерезис дополнительно проверены в C++ и JavaScript, в том числе переход через переполнение millis. Это функциональные проверки прототипа, а не испытания реального оборудования.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откройте готовый Wokwi и нажмите запуск. Затем откройте локальную модель и нажмите «Подключить Wokwi». Последовательно покажите жару, сухую почву, низкий уровень воды и ночной режим. Если интернет в аудитории не работает, используйте самостоятельную демонстрацию и заранее сохранённые скриншоты. Не утверждайте, что собраны физические устройства или реализован Telegram.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https://docs.wokwi.com/getting-started/supported-hardware ; https://docs.wokwi.com/guides/esp32-wifi ; https://www.hivemq.com/mqtt/public-mqtt-broker/ . Рабочий проект: https://wokwi.com/projects/476959057155028993 . Пороги выбраны для учебной демонстрации, не являются рекомендациями для конкретной культуры.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7c7818b8d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7300a830524d12" /><Relationship Type="http://schemas.openxmlformats.org/officeDocument/2006/relationships/slideLayout" Target="/ppt/slideLayouts/slideLayout1.xml" Id="Rbccb2dff4c2943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cb2dff4c2943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bb769da47499c" /><Relationship Type="http://schemas.openxmlformats.org/officeDocument/2006/relationships/image" Target="/ppt/media/image.png" Id="R48195cd2006b4373" /><Relationship Type="http://schemas.openxmlformats.org/officeDocument/2006/relationships/notesSlide" Target="/ppt/notesSlides/notesSlide1.xml" Id="R2c0bdcf68087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d0b0841e4463a" /><Relationship Type="http://schemas.openxmlformats.org/officeDocument/2006/relationships/image" Target="/ppt/media/image.jpeg" Id="Rce601ba653424034" /><Relationship Type="http://schemas.openxmlformats.org/officeDocument/2006/relationships/notesSlide" Target="/ppt/notesSlides/notesSlide2.xml" Id="Rbdb66a70cc184e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336acfdce472f" /><Relationship Type="http://schemas.openxmlformats.org/officeDocument/2006/relationships/notesSlide" Target="/ppt/notesSlides/notesSlide3.xml" Id="R498fb575eaac41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00be4097947de" /><Relationship Type="http://schemas.openxmlformats.org/officeDocument/2006/relationships/notesSlide" Target="/ppt/notesSlides/notesSlide4.xml" Id="Rdd3052c86a5048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78307ca974b54" /><Relationship Type="http://schemas.openxmlformats.org/officeDocument/2006/relationships/image" Target="/ppt/media/image2.jpeg" Id="R6d070c639ae1473b" /><Relationship Type="http://schemas.openxmlformats.org/officeDocument/2006/relationships/notesSlide" Target="/ppt/notesSlides/notesSlide5.xml" Id="R880ab597732246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5dea1f3f7483e" /><Relationship Type="http://schemas.openxmlformats.org/officeDocument/2006/relationships/notesSlide" Target="/ppt/notesSlides/notesSlide6.xml" Id="R7ce45ab60af64a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2e050dc444d1" /><Relationship Type="http://schemas.openxmlformats.org/officeDocument/2006/relationships/notesSlide" Target="/ppt/notesSlides/notesSlide7.xml" Id="R346a6a49896043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44657c1ae44af" /><Relationship Type="http://schemas.openxmlformats.org/officeDocument/2006/relationships/notesSlide" Target="/ppt/notesSlides/notesSlide8.xml" Id="R0ade6ef946134b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95cd2006b43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859F1-3225-47E7-89EE-1D3BA9F4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147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Умная</a:t>
            </a:r>
          </a:p>
          <a:p xmlns:a="http://schemas.openxmlformats.org/drawingml/2006/main">
            <a:pPr>
              <a:defRPr sz="48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теплица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17E6B-C583-4F6D-88F5-8723D92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Учебный IoT-проект</a:t>
            </a:r>
          </a:p>
          <a:p xmlns:a="http://schemas.openxmlformats.org/drawingml/2006/main">
            <a:pPr>
              <a:defRPr sz="20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на ESP32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3FE28-C4FB-4A4A-97BD-F8459016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280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Автоматическое управление</a:t>
            </a:r>
          </a:p>
          <a:p xmlns:a="http://schemas.openxmlformats.org/drawingml/2006/main">
            <a:pPr>
              <a:defRPr sz="1800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в симуляторе Wokwi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E302B-2FD6-4061-9850-D53E37CE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674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Иллюстрация предполагаемой конструкции</a:t>
            </a:r>
          </a:p>
        </p:txBody>
      </p:sp>
    </p:spTree>
    <p:extLst>
      <p:ext uri="{BB962C8B-B14F-4D97-AF65-F5344CB8AC3E}">
        <p14:creationId xmlns:p14="http://schemas.microsoft.com/office/powerpoint/2010/main" val="8671211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5D0D7-3EA7-4273-98AB-FE9A96A2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Размещение датчиков и устройств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01ba653424034"/>
          <a:stretch xmlns:a="http://schemas.openxmlformats.org/drawingml/2006/main"/>
        </p:blipFill>
        <p:spPr>
          <a:xfrm xmlns:a="http://schemas.openxmlformats.org/drawingml/2006/main">
            <a:off x="361950" y="1492983"/>
            <a:ext cx="7620000" cy="444353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A6749-DA24-4360-85A4-70990EC4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525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Внутри теплицы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BF247-13EE-4F41-B071-F41DEA4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05025"/>
            <a:ext cx="3238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Температура и влажность</a:t>
            </a:r>
          </a:p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DHT22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Влажность почвы</a:t>
            </a:r>
          </a:p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Аналоговый сигнал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Освещённость</a:t>
            </a:r>
          </a:p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Фоторезистор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47A0C-CA96-48E3-9840-A217447E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815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Рядом с теплицей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B0DDD-B71E-414B-A889-BDAA00A7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1497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Запас воды и насос</a:t>
            </a:r>
          </a:p>
          <a:p xmlns:a="http://schemas.openxmlformats.org/drawingml/2006/main">
            <a:pPr>
              <a:defRPr sz="187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Контроллер ESP32</a:t>
            </a:r>
          </a:p>
        </p:txBody>
      </p:sp>
    </p:spTree>
    <p:extLst>
      <p:ext uri="{BB962C8B-B14F-4D97-AF65-F5344CB8AC3E}">
        <p14:creationId xmlns:p14="http://schemas.microsoft.com/office/powerpoint/2010/main" val="865101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2BEBC-CE7C-4064-9941-B9781A12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Архитектура IoT-системы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6769C-EC59-4CD1-97B3-C404D869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324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0"/>
          </a:solidFill>
          <a:ln xmlns:a="http://schemas.openxmlformats.org/drawingml/2006/main" w="9525">
            <a:solidFill>
              <a:srgbClr val="D7DD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500C5-293A-4AAE-9B8C-840ECF2B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8122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Датчики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FC37F-A284-40DE-8095-2AE48F38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09875"/>
            <a:ext cx="2038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Температура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Влажность почвы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Освещённость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Уровень воды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DF76D-AFFA-41E5-839B-892FA3E8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343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0"/>
          </a:solidFill>
          <a:ln xmlns:a="http://schemas.openxmlformats.org/drawingml/2006/main" w="9525">
            <a:solidFill>
              <a:srgbClr val="D7DDC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AC196-D01B-4FC3-9221-C695CA39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81225"/>
            <a:ext cx="205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ESP32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C1146-BF4F-4390-AC3F-4AB92BAA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9875"/>
            <a:ext cx="2057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Фильтр EMA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Пороги и гистерезис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Таймер полива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Защита насоса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8016B-1ECF-4CB5-995B-FED03020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2047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0"/>
          </a:solidFill>
          <a:ln xmlns:a="http://schemas.openxmlformats.org/drawingml/2006/main" w="9525">
            <a:solidFill>
              <a:srgbClr val="D7DD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819CF-98CE-4EC3-BC9B-1F531DDE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81225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MQTT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82FB2-FD4E-4A3B-B1B8-8B2DF5D2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9875"/>
            <a:ext cx="1762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Брокер HiveMQ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Показания JSON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Команды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1D01D-04DD-4553-BB59-7D868F95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0"/>
          </a:solidFill>
          <a:ln xmlns:a="http://schemas.openxmlformats.org/drawingml/2006/main" w="9525">
            <a:solidFill>
              <a:srgbClr val="D7DD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04A17-D8F7-4EFA-B406-A2DB6693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1812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3D-модель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AEFB5-8F8B-41EF-99A0-B72CFD2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09875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Показания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Состояния устройств</a:t>
            </a:r>
          </a:p>
          <a:p xmlns:a="http://schemas.openxmlformats.org/drawingml/2006/main">
            <a:pPr>
              <a:defRPr sz="1725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Наглядная анимация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B7330-0C0F-4F3A-969A-EBB99A81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337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45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948B0-657F-4330-8D10-3DFF9E98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337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4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04AAD-22A9-4264-85B2-784EE99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3238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E745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3997C-DF73-44C3-9C0F-7EE8CA7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192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Сигналы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0B94D-730C-4D63-8672-9E0DBBE7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619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Локальные решения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FC6CF-68F2-4255-9B69-925EE0A9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Wi-Fi / интернет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5776E-C29C-4784-8306-518C7B68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38700"/>
            <a:ext cx="500062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457"/>
          </a:solidFill>
          <a:ln xmlns:a="http://schemas.openxmlformats.org/drawingml/2006/main" w="9525">
            <a:solidFill>
              <a:srgbClr val="3E745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F179C-F9A0-42C3-B122-D117EE7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29200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F5E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6F5EF"/>
                </a:solidFill>
                <a:latin typeface="Arial"/>
                <a:ea typeface="Arial"/>
                <a:cs typeface="Arial"/>
              </a:rPr>
              <a:t>Реле: насос, вентилятор, лампа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6C5D19-2090-4D0B-B52B-438CF504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7675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E74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2419E-3E52-4CDC-8FA9-BE658299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Без интернета ESP32 продолжает управлять устройствами</a:t>
            </a:r>
          </a:p>
        </p:txBody>
      </p:sp>
    </p:spTree>
    <p:extLst>
      <p:ext uri="{BB962C8B-B14F-4D97-AF65-F5344CB8AC3E}">
        <p14:creationId xmlns:p14="http://schemas.microsoft.com/office/powerpoint/2010/main" val="1907912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13A81-9EF1-4619-A825-F5D57FA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Правила автоматического управления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4124325"/>
                <a:gridCol w="44958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F5EF"/>
                          </a:solidFill>
                          <a:latin typeface="Arial"/>
                          <a:ea typeface="Arial"/>
                          <a:cs typeface="Arial"/>
                        </a:rPr>
                        <a:t>Устройство</a:t>
                      </a:r>
                    </a:p>
                  </a:txBody>
                  <a:tcPr marL="91440" marR="91440" marT="45720" marB="45720">
                    <a:solidFill>
                      <a:srgbClr val="3E74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F5EF"/>
                          </a:solidFill>
                          <a:latin typeface="Arial"/>
                          <a:ea typeface="Arial"/>
                          <a:cs typeface="Arial"/>
                        </a:rPr>
                        <a:t>Когда включается</a:t>
                      </a:r>
                    </a:p>
                  </a:txBody>
                  <a:tcPr marL="91440" marR="91440" marT="45720" marB="45720">
                    <a:solidFill>
                      <a:srgbClr val="3E74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F5EF"/>
                          </a:solidFill>
                          <a:latin typeface="Arial"/>
                          <a:ea typeface="Arial"/>
                          <a:cs typeface="Arial"/>
                        </a:rPr>
                        <a:t>Когда выключается</a:t>
                      </a:r>
                    </a:p>
                  </a:txBody>
                  <a:tcPr marL="91440" marR="91440" marT="45720" marB="45720">
                    <a:solidFill>
                      <a:srgbClr val="3E745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Вентилятор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Температура ≥ 28,5 °C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Температура ≤ 26,5 °C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Насос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Почва &lt; 35 %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Почва ≥ 55 % или через 6 с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Лампа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Днём, свет &lt; 30 %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Свет ≥ 45 %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Ночной режим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22:00–06:00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Лампа всегда выключена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Защита бака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Вода ≤ 15 % или ошибка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Насос всегда выключен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39C52-B370-487B-BFD6-2FB20CDC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EMA-фильтр: 25 % нового измерения и 75 % предыдущего</a:t>
            </a:r>
          </a:p>
        </p:txBody>
      </p:sp>
    </p:spTree>
    <p:extLst>
      <p:ext uri="{BB962C8B-B14F-4D97-AF65-F5344CB8AC3E}">
        <p14:creationId xmlns:p14="http://schemas.microsoft.com/office/powerpoint/2010/main" val="228711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EA722-3FD8-44F2-AB4F-A686387B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Проверка связи с виртуальным ESP32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70c639ae1473b"/>
          <a:stretch xmlns:a="http://schemas.openxmlformats.org/drawingml/2006/main"/>
        </p:blipFill>
        <p:spPr>
          <a:xfrm xmlns:a="http://schemas.openxmlformats.org/drawingml/2006/main">
            <a:off x="571500" y="161210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FBE4A-2EFC-4BEB-AEEE-3604DAFF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66687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32 °C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16991-F507-462B-B9A4-61F292DB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28925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Вентилятор работает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A5630-096B-4445-81A7-E8D08C6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91477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Команда пришла по MQTT.</a:t>
            </a:r>
          </a:p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Решение принял ESP32.</a:t>
            </a:r>
          </a:p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Модель получила ответ.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B0976-A022-4943-B682-638C6A4F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Wi-Fi и двусторонний обмен проверены в Wokwi</a:t>
            </a:r>
          </a:p>
        </p:txBody>
      </p:sp>
    </p:spTree>
    <p:extLst>
      <p:ext uri="{BB962C8B-B14F-4D97-AF65-F5344CB8AC3E}">
        <p14:creationId xmlns:p14="http://schemas.microsoft.com/office/powerpoint/2010/main" val="1583898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B2C3A-10F0-4E4F-9037-BB740E9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Ограничение времени полива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9FE6B-2F39-41FC-9281-DBBD3D58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Почва остаётся сухой, воды достаточно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8D38E-DB58-4430-AC45-019E844D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8AE"/>
          </a:solidFill>
          <a:ln xmlns:a="http://schemas.openxmlformats.org/drawingml/2006/main" w="9525">
            <a:solidFill>
              <a:srgbClr val="3F88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D01C-1A9F-48CE-98EB-DC25EFA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5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6F5EF"/>
                </a:solidFill>
                <a:latin typeface="Arial"/>
                <a:ea typeface="Arial"/>
                <a:cs typeface="Arial"/>
              </a:rPr>
              <a:t>Полив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71093-73FE-4E70-A7A6-A32A8EFD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4800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BE0"/>
          </a:solidFill>
          <a:ln xmlns:a="http://schemas.openxmlformats.org/drawingml/2006/main" w="9525">
            <a:solidFill>
              <a:srgbClr val="E4EBE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71F98-34E3-4826-9B7A-1B95A8AB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Пауза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2AE0A-1F8D-4F38-86FF-3F68078F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400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8AE"/>
          </a:solidFill>
          <a:ln xmlns:a="http://schemas.openxmlformats.org/drawingml/2006/main" w="9525">
            <a:solidFill>
              <a:srgbClr val="3F88A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62A8D-B290-47A8-9501-14CF72EC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5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6F5EF"/>
                </a:solidFill>
                <a:latin typeface="Arial"/>
                <a:ea typeface="Arial"/>
                <a:cs typeface="Arial"/>
              </a:rPr>
              <a:t>Полив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2CA71-CDB2-411D-ACD4-09CE23A3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0 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376A6-1674-4CDE-851D-6246B07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00500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6 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49E1D-A993-48EA-B5C7-B5333BF2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00500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18 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D4E2B-08FC-4A80-A5E5-612390D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000500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24 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CCAB4-88C1-4564-A2F0-C30D2C6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F88A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F88AE"/>
                </a:solidFill>
                <a:latin typeface="Arial"/>
                <a:ea typeface="Arial"/>
                <a:cs typeface="Arial"/>
              </a:rPr>
              <a:t>До 6 секунд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0E5B5-C084-49B5-A203-069CA1E1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12 секунд без полива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27587-0C33-4D0C-9194-53E7E2A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Низкий уровень воды или сбой датчика уровня блокирует насос</a:t>
            </a:r>
          </a:p>
        </p:txBody>
      </p:sp>
    </p:spTree>
    <p:extLst>
      <p:ext uri="{BB962C8B-B14F-4D97-AF65-F5344CB8AC3E}">
        <p14:creationId xmlns:p14="http://schemas.microsoft.com/office/powerpoint/2010/main" val="1678479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75615-C23C-4308-84C4-A6191974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Результаты проверки сценариев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71500" y="1495425"/>
          <a:ext xmlns:a="http://schemas.openxmlformats.org/drawingml/2006/main" cx="110490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3810000"/>
                <a:gridCol w="4714875"/>
              </a:tblGrid>
              <a:tr h="57694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F5EF"/>
                          </a:solidFill>
                          <a:latin typeface="Arial"/>
                          <a:ea typeface="Arial"/>
                          <a:cs typeface="Arial"/>
                        </a:rPr>
                        <a:t>Сценарий</a:t>
                      </a:r>
                    </a:p>
                  </a:txBody>
                  <a:tcPr marL="91440" marR="91440" marT="45720" marB="45720">
                    <a:solidFill>
                      <a:srgbClr val="3E74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F5EF"/>
                          </a:solidFill>
                          <a:latin typeface="Arial"/>
                          <a:ea typeface="Arial"/>
                          <a:cs typeface="Arial"/>
                        </a:rPr>
                        <a:t>Входные условия</a:t>
                      </a:r>
                    </a:p>
                  </a:txBody>
                  <a:tcPr marL="91440" marR="91440" marT="45720" marB="45720">
                    <a:solidFill>
                      <a:srgbClr val="3E74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6F5EF"/>
                          </a:solidFill>
                          <a:latin typeface="Arial"/>
                          <a:ea typeface="Arial"/>
                          <a:cs typeface="Arial"/>
                        </a:rPr>
                        <a:t>Полученный результат</a:t>
                      </a:r>
                    </a:p>
                  </a:txBody>
                  <a:tcPr marL="91440" marR="91440" marT="45720" marB="45720">
                    <a:solidFill>
                      <a:srgbClr val="3E7457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Жара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32 °C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Вентилятор включён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Сухая почва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25 % влажности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Полив, затем пауза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Мало воды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10 % воды в баке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Насос заблокирован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Темно днём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14:00, свет 15 %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Лампа включена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Ночь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23:00, свет 5 %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Лампа выключена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  <a:tr h="57694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Сбой уровня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Некорректный сигнал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72D"/>
                          </a:solidFill>
                          <a:latin typeface="Arial"/>
                          <a:ea typeface="Arial"/>
                          <a:cs typeface="Arial"/>
                        </a:rPr>
                        <a:t>Насос заблокирован</a:t>
                      </a:r>
                    </a:p>
                  </a:txBody>
                  <a:tcPr marL="91440" marR="91440" marT="45720" marB="45720"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A99BB-2F0E-47EF-A310-EF46EB88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Проверки относятся к симуляции и программной логике</a:t>
            </a:r>
          </a:p>
        </p:txBody>
      </p:sp>
    </p:spTree>
    <p:extLst>
      <p:ext uri="{BB962C8B-B14F-4D97-AF65-F5344CB8AC3E}">
        <p14:creationId xmlns:p14="http://schemas.microsoft.com/office/powerpoint/2010/main" val="85865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F5DFD-8663-4F72-B1D1-AF603740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1095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Демонстрация на защите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6A7DD-EA9A-4A68-A723-47959E6B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Готово к показу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4C11D-DD8C-4739-9B0A-731D8EB1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51911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Работающая прошивка ESP32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Схема и датчики в Wokwi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Объёмная модель с анимациями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2D"/>
                </a:solidFill>
                <a:latin typeface="Arial"/>
                <a:ea typeface="Arial"/>
                <a:cs typeface="Arial"/>
              </a:rPr>
              <a:t>Телеметрия и команды по MQTT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FFAA6-B7E5-45D2-8B66-924D784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28775"/>
            <a:ext cx="500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7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372D"/>
                </a:solidFill>
                <a:latin typeface="Arial"/>
                <a:ea typeface="Arial"/>
                <a:cs typeface="Arial"/>
              </a:rPr>
              <a:t>Границы прототипа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F8CB6-18BF-45DD-B752-87065EC3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05050"/>
            <a:ext cx="50006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Платы и растения виртуальные.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Почва и свет: относительные шкалы.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Модель иллюстрирует состояние,</a:t>
            </a:r>
          </a:p>
          <a:p xmlns:a="http://schemas.openxmlformats.org/drawingml/2006/main">
            <a:pPr>
              <a:defRPr sz="20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не рассчитывает физику среды.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6571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166"/>
                </a:solidFill>
                <a:latin typeface="Arial"/>
                <a:ea typeface="Arial"/>
                <a:cs typeface="Arial"/>
              </a:rPr>
              <a:t>Telegram в эту версию не входит.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4662F-CB46-4EFA-B585-3C447B1E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E74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E7457"/>
                </a:solidFill>
                <a:latin typeface="Arial"/>
                <a:ea typeface="Arial"/>
                <a:cs typeface="Arial"/>
              </a:rPr>
              <a:t>Сначала Wokwi, затем модель и сценарии</a:t>
            </a:r>
          </a:p>
        </p:txBody>
      </p:sp>
    </p:spTree>
    <p:extLst>
      <p:ext uri="{BB962C8B-B14F-4D97-AF65-F5344CB8AC3E}">
        <p14:creationId xmlns:p14="http://schemas.microsoft.com/office/powerpoint/2010/main" val="689600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2026-10-04T14:21:49.7550000Z</dcterms:created>
  <dcterms:modified xsi:type="dcterms:W3CDTF">2026-10-04T14:21:49.7560000Z</dcterms:modified>
</coreProperties>
</file>